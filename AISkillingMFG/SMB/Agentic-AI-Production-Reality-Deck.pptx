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6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9382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" y="3703320"/>
            <a:ext cx="6035040" cy="0"/>
          </a:xfrm>
          <a:prstGeom prst="line">
            <a:avLst/>
          </a:prstGeom>
          <a:noFill/>
          <a:ln w="25400">
            <a:solidFill>
              <a:srgbClr val="2D37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766560" y="3703320"/>
            <a:ext cx="1280160" cy="2103120"/>
          </a:xfrm>
          <a:prstGeom prst="line">
            <a:avLst/>
          </a:prstGeom>
          <a:noFill/>
          <a:ln w="31750">
            <a:solidFill>
              <a:srgbClr val="D948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D9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GAP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192024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Agentic AI Struggles</a:t>
            </a:r>
            <a:endParaRPr lang="en-US" sz="4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Reach Production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 behind the demo — and the engineering discipline the keynotes leave out.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5074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demo always works. That's exactly the problem.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guide for builders  ·  Balamurugan Balakreshnan  ·  June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NUMBERS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agentic projects never ship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D948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86968" y="32004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 proofs-of-concept never reach production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86968" y="3977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 / Lenovo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17720" y="21945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40%+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636008" y="32004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agentic AI projects forecast cancelled by 2027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36008" y="3977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201168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66760" y="21945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3E96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~23%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8385048" y="32004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organizations have actually scaled agents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85048" y="3977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2D37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482803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cause is almost never the model.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52578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die from unclear business value, runaway cost, weak governance, and scope creep — not from a lack of intelligence.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384280" y="64008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TRUTH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demo proves something 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possible.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demands it be reliable, affordable, and trusted.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the two is not intelligence. It is engineering discipline and ruthless scoping —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parts that don't make the keynote.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384280" y="64008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CHALLENGES, CONSOLIDATED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reasons agentic AI stalls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picture on one slide — then we take each in turn.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359152"/>
            <a:ext cx="530352" cy="530352"/>
          </a:xfrm>
          <a:prstGeom prst="ellipse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359152"/>
            <a:ext cx="987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3134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use case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6700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agent-shaped; no human fallback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219456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55080" y="2359152"/>
            <a:ext cx="530352" cy="530352"/>
          </a:xfrm>
          <a:prstGeom prst="ellipse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2359152"/>
            <a:ext cx="987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23134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 the wrong place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0880" y="26700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Bolted on everywhere, not where judgment lives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960" y="3364992"/>
            <a:ext cx="530352" cy="530352"/>
          </a:xfrm>
          <a:prstGeom prst="ellipse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364992"/>
            <a:ext cx="987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33192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 past capability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36758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model you wish you had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20040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55080" y="3364992"/>
            <a:ext cx="530352" cy="530352"/>
          </a:xfrm>
          <a:prstGeom prst="ellipse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26480" y="3364992"/>
            <a:ext cx="987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33192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Over-engineering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40880" y="36758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Swarms and frameworks before a working slice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20624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22960" y="4370832"/>
            <a:ext cx="530352" cy="530352"/>
          </a:xfrm>
          <a:prstGeom prst="ellipse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4370832"/>
            <a:ext cx="987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08760" y="43251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Unmanaged expectations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508760" y="46817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a probabilistic system as exact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420624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55080" y="4370832"/>
            <a:ext cx="530352" cy="530352"/>
          </a:xfrm>
          <a:prstGeom prst="ellipse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26480" y="4370832"/>
            <a:ext cx="987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40880" y="43251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Deterministic-software habits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040880" y="46817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Spec-and-unit-test instead of evaluate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521208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22960" y="5376672"/>
            <a:ext cx="530352" cy="530352"/>
          </a:xfrm>
          <a:prstGeom prst="ellipse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4360" y="5376672"/>
            <a:ext cx="987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508760" y="53309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new lifecycle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508760" y="56875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Ship-and-forget; no evals, versioning, observability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72200" y="521208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355080" y="5376672"/>
            <a:ext cx="530352" cy="530352"/>
          </a:xfrm>
          <a:prstGeom prst="ellipse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26480" y="5376672"/>
            <a:ext cx="987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040880" y="53309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everything at once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040880" y="56875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platform instead of a thin, iterated slice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384280" y="64008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9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01 · USE-CASE SELECTION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failures are use-case failures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611880" cy="566928"/>
          </a:xfrm>
          <a:prstGeom prst="rect">
            <a:avLst/>
          </a:prstGeom>
          <a:solidFill>
            <a:srgbClr val="56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56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“AI can do anything — point it at any problem.”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7086600" cy="3063240"/>
          </a:xfrm>
          <a:prstGeom prst="roundRect">
            <a:avLst>
              <a:gd name="adj" fmla="val 2985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7086600" cy="566928"/>
          </a:xfrm>
          <a:prstGeom prst="rect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82880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606040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Agent-shaped work is narrow: repetitive, data-rich, multi-step, judgment-heavy.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09160" y="339242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392424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tolerate a non-zero error rate and have a human fallback.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709160" y="395935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959352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wrong answer is catastrophic and unrecoverable, it's the wrong first use case.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52578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 line:  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48840" y="525780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problem before the technology. Wrong use case = dead project, however good the model.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384280" y="64008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9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02 ·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 AI only where judgment lives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611880" cy="566928"/>
          </a:xfrm>
          <a:prstGeom prst="rect">
            <a:avLst/>
          </a:prstGeom>
          <a:solidFill>
            <a:srgbClr val="56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56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“Make the whole thing agentic.”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7086600" cy="3063240"/>
          </a:xfrm>
          <a:prstGeom prst="roundRect">
            <a:avLst>
              <a:gd name="adj" fmla="val 2985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7086600" cy="566928"/>
          </a:xfrm>
          <a:prstGeom prst="rect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82880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606040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a good AI app is boring, deterministic code — and should stay that way.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09160" y="339242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392424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model only where ambiguity, language, or judgment actually exists.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709160" y="395935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959352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it in deterministic validation, routing, and guardrails.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52578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 line:  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48840" y="525780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 a component, not the architecture. Determinism where you can, AI where you must.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384280" y="64008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9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03 · MODEL CAPABILITY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to what the model can do today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611880" cy="566928"/>
          </a:xfrm>
          <a:prstGeom prst="rect">
            <a:avLst/>
          </a:prstGeom>
          <a:solidFill>
            <a:srgbClr val="56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56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model will just figure it out.”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7086600" cy="3063240"/>
          </a:xfrm>
          <a:prstGeom prst="roundRect">
            <a:avLst>
              <a:gd name="adj" fmla="val 2985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7086600" cy="566928"/>
          </a:xfrm>
          <a:prstGeom prst="rect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82880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606040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measured capability — not the demo or the next release's promise.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09160" y="317296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172968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real failure modes: tool-calling reliability, context limits, reasoning depth.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709160" y="395935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959352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Capability-driven design beats aspiration-driven design every time.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52578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 line:  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48840" y="525780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 the model you have, not the one on the roadmap slide.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384280" y="64008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9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04 · COMPLEXITY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over-engineering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611880" cy="566928"/>
          </a:xfrm>
          <a:prstGeom prst="rect">
            <a:avLst/>
          </a:prstGeom>
          <a:solidFill>
            <a:srgbClr val="56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56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“Orchestrate a swarm of autonomous agents.”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7086600" cy="3063240"/>
          </a:xfrm>
          <a:prstGeom prst="roundRect">
            <a:avLst>
              <a:gd name="adj" fmla="val 2985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7086600" cy="566928"/>
          </a:xfrm>
          <a:prstGeom prst="rect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82880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606040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with a few good tools beats a multi-agent swarm in most cases.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09160" y="317296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172968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 agent and hop multiplies latency, cost, and failure surface.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709160" y="373989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739896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complexity only when a single agent provably cannot do the job.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52578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 line:  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48840" y="525780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is a cost, not a feature. Earn each agent you add.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384280" y="64008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9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05 · EXPECTATIONS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 expectations honestly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611880" cy="566928"/>
          </a:xfrm>
          <a:prstGeom prst="rect">
            <a:avLst/>
          </a:prstGeom>
          <a:solidFill>
            <a:srgbClr val="56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56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“It's 100% accurate and fully autonomous.”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7086600" cy="3063240"/>
          </a:xfrm>
          <a:prstGeom prst="roundRect">
            <a:avLst>
              <a:gd name="adj" fmla="val 2985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7086600" cy="566928"/>
          </a:xfrm>
          <a:prstGeom prst="rect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82880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606040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probabilistic. Define an acceptable accuracy target (SLO) up front.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09160" y="317296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172968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confidence threshold — and decide what happens below it.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709160" y="373989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739896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“Good enough, with a human gate” ships. “Perfect” never does.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52578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 line:  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48840" y="525780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error rate you can live with. Designing for zero error guarantees zero shipping.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384280" y="64008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9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06 · ENGINEERING MINDSET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isn't the software you've shipped for decades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611880" cy="566928"/>
          </a:xfrm>
          <a:prstGeom prst="rect">
            <a:avLst/>
          </a:prstGeom>
          <a:solidFill>
            <a:srgbClr val="56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56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“Spec it, unit-test it, ship it — like always.”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7086600" cy="3063240"/>
          </a:xfrm>
          <a:prstGeom prst="roundRect">
            <a:avLst>
              <a:gd name="adj" fmla="val 2985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7086600" cy="566928"/>
          </a:xfrm>
          <a:prstGeom prst="rect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82880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606040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is emergent and non-deterministic — the same input can vary.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09160" y="317296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172968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unit-test your way to confidence; you evaluate, not just verify.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709160" y="373989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739896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becomes a distribution, not a pass/fail assertion.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52578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 line:  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48840" y="525780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habits quietly sink AI projects. Trade specs for evals.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384280" y="64008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9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07 · LIFECYCLE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 a new lifecycle — not the old one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611880" cy="566928"/>
          </a:xfrm>
          <a:prstGeom prst="rect">
            <a:avLst/>
          </a:prstGeom>
          <a:solidFill>
            <a:srgbClr val="56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56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“Build it, launch it, move on.”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7086600" cy="3063240"/>
          </a:xfrm>
          <a:prstGeom prst="roundRect">
            <a:avLst>
              <a:gd name="adj" fmla="val 2985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7086600" cy="566928"/>
          </a:xfrm>
          <a:prstGeom prst="rect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82880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606040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are your CI. Observability and tracing are mandatory in production.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09160" y="317296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172968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prompts, models, and tools; regression-test on every change.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709160" y="373989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739896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changes under you — plan for drift and continuous adaptation.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52578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 line:  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48840" y="525780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Ship-and-forget is fatal. Agentic systems need LLMOps, not a one-time launch.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384280" y="64008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9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08 · SCOPE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build the whole thing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611880" cy="566928"/>
          </a:xfrm>
          <a:prstGeom prst="rect">
            <a:avLst/>
          </a:prstGeom>
          <a:solidFill>
            <a:srgbClr val="56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56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“Launch the full autonomous platform.”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7086600" cy="3063240"/>
          </a:xfrm>
          <a:prstGeom prst="roundRect">
            <a:avLst>
              <a:gd name="adj" fmla="val 2985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7086600" cy="566928"/>
          </a:xfrm>
          <a:prstGeom prst="rect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82880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606040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thin vertical slice: one feature, one workflow, real users.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09160" y="317296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172968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on actual feedback — not an imagined end-state spec.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709160" y="373989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739896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is the single biggest lever you control. Use it to cut, not to add.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52578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 line:  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48840" y="525780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narrow thing in production beats a grand thing in perpetual pilot.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384280" y="64008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THREAD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stalled project shares these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91440" cy="841248"/>
          </a:xfrm>
          <a:prstGeom prst="rect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48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dollarized business value behind the use case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91440" cy="841248"/>
          </a:xfrm>
          <a:prstGeom prst="rect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874520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48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49440" y="1874520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bolted everywhere instead of where judgment lives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862072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2862072"/>
            <a:ext cx="91440" cy="841248"/>
          </a:xfrm>
          <a:prstGeom prst="rect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2862072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48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2862072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a model capability that doesn't exist yet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2862072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72200" y="2862072"/>
            <a:ext cx="91440" cy="841248"/>
          </a:xfrm>
          <a:prstGeom prst="rect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2862072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48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49440" y="2862072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Over-engineered: swarms and frameworks before a working slice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3849624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" y="3849624"/>
            <a:ext cx="91440" cy="841248"/>
          </a:xfrm>
          <a:prstGeom prst="rect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3849624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48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3849624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switched on before accuracy was proven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72200" y="3849624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72200" y="3849624"/>
            <a:ext cx="91440" cy="841248"/>
          </a:xfrm>
          <a:prstGeom prst="rect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3849624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48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49440" y="3849624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like deterministic software — no eval harness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4837176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0080" y="4837176"/>
            <a:ext cx="91440" cy="841248"/>
          </a:xfrm>
          <a:prstGeom prst="rect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8680" y="4837176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48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17320" y="4837176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crept toward “everything” instead of one feature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172200" y="4837176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22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72200" y="4837176"/>
            <a:ext cx="91440" cy="841248"/>
          </a:xfrm>
          <a:prstGeom prst="rect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00800" y="4837176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48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949440" y="4837176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Run-cost and drift ignored until they bit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1384280" y="64008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SHIPPING LOOKS LIKE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discipline that reaches production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91440" cy="841248"/>
          </a:xfrm>
          <a:prstGeom prst="rect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dollarized problem with a human fallback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91440" cy="841248"/>
          </a:xfrm>
          <a:prstGeom prst="rect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874520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49440" y="1874520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only where judgment lives; determinism everywhere else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862072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2862072"/>
            <a:ext cx="91440" cy="841248"/>
          </a:xfrm>
          <a:prstGeom prst="rect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2862072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2862072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 the model's measured capability — test the failure modes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2862072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72200" y="2862072"/>
            <a:ext cx="91440" cy="841248"/>
          </a:xfrm>
          <a:prstGeom prst="rect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2862072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49440" y="2862072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agent, a few good tools; add complexity only when forced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3849624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" y="3849624"/>
            <a:ext cx="91440" cy="841248"/>
          </a:xfrm>
          <a:prstGeom prst="rect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3849624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3849624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 honest accuracy SLO and a human gate below threshold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72200" y="3849624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72200" y="3849624"/>
            <a:ext cx="91440" cy="841248"/>
          </a:xfrm>
          <a:prstGeom prst="rect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3849624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49440" y="3849624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Eval-driven, not spec-driven; correctness is a distribution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4837176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0080" y="4837176"/>
            <a:ext cx="91440" cy="841248"/>
          </a:xfrm>
          <a:prstGeom prst="rect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8680" y="4837176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17320" y="4837176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Observability, versioning, and regression tests from day one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172200" y="4837176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72200" y="4837176"/>
            <a:ext cx="91440" cy="841248"/>
          </a:xfrm>
          <a:prstGeom prst="rect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00800" y="4837176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949440" y="4837176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thin slice, learn from users, iterate — don't boil the ocean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1384280" y="64008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13232" y="182880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demo is a promise.</a:t>
            </a:r>
            <a:endParaRPr lang="en-US" sz="4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is the proof.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teams that ship treat agentic AI as software with a probability distribution: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scoped tight  ·  placed precisely  ·  evaluated hard  ·  shipped thin  ·  improved continuously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84632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D948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484632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is won in execution — not in strategy alone.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58521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5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strategy with weak execution still dies in pilot. Build less, evaluate more, and earn production one narrow win at a time.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1259</Words>
  <Application>Microsoft Office PowerPoint</Application>
  <PresentationFormat>Custom</PresentationFormat>
  <Paragraphs>227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Balamurugan Balakreshnan</cp:lastModifiedBy>
  <cp:revision>2</cp:revision>
  <dcterms:created xsi:type="dcterms:W3CDTF">2026-06-25T13:55:05Z</dcterms:created>
  <dcterms:modified xsi:type="dcterms:W3CDTF">2026-06-25T13:57:37Z</dcterms:modified>
</cp:coreProperties>
</file>