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6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4847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-1554480"/>
            <a:ext cx="5120640" cy="5120640"/>
          </a:xfrm>
          <a:prstGeom prst="ellipse">
            <a:avLst/>
          </a:prstGeom>
          <a:ln w="19050">
            <a:solidFill>
              <a:srgbClr val="1638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784080" y="-548640"/>
            <a:ext cx="3108960" cy="3108960"/>
          </a:xfrm>
          <a:prstGeom prst="ellipse">
            <a:avLst/>
          </a:prstGeom>
          <a:ln w="1905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0" y="182880"/>
            <a:ext cx="1645920" cy="1645920"/>
          </a:xfrm>
          <a:prstGeom prst="ellipse">
            <a:avLst/>
          </a:prstGeom>
          <a:solidFill>
            <a:srgbClr val="16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0" y="18288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◆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2A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FOR MANUFACTURING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2514600"/>
            <a:ext cx="9326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 Your Shop Floor Into an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Intelligent, Self-Optimizing Operation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agentic-AI playbook for small &amp; mid-size manufacturers — across every sector.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49808" y="5074920"/>
            <a:ext cx="3840480" cy="0"/>
          </a:xfrm>
          <a:prstGeom prst="line">
            <a:avLst/>
          </a:prstGeom>
          <a:noFill/>
          <a:ln w="12700">
            <a:solidFill>
              <a:srgbClr val="1638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5212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downtime  ·  Higher yield  ·  Freed working capital  ·  Safer people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 — and why this matters for you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just crossed from enterprise labs into off-the-shelf platforms any manufacturer can switch on in weeks. The data shows it has become the clearest dividing line between growing and declining businesses.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670048" cy="2743200"/>
          </a:xfrm>
          <a:prstGeom prst="roundRect">
            <a:avLst>
              <a:gd name="adj" fmla="val 3425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2670048" cy="109728"/>
          </a:xfrm>
          <a:prstGeom prst="rect">
            <a:avLst/>
          </a:prstGeom>
          <a:solidFill>
            <a:srgbClr val="12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3063240"/>
            <a:ext cx="2340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A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83% vs 55%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04672" y="4069080"/>
            <a:ext cx="23408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GROWING SMBs use AI — vs. declining ones. A 28-point growth gap.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9000" y="2697480"/>
            <a:ext cx="2670048" cy="2743200"/>
          </a:xfrm>
          <a:prstGeom prst="roundRect">
            <a:avLst>
              <a:gd name="adj" fmla="val 3425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29000" y="2697480"/>
            <a:ext cx="2670048" cy="109728"/>
          </a:xfrm>
          <a:prstGeom prst="rect">
            <a:avLst/>
          </a:prstGeom>
          <a:solidFill>
            <a:srgbClr val="1C6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93592" y="3063240"/>
            <a:ext cx="2340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6F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91%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593592" y="4069080"/>
            <a:ext cx="23408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SMBs using AI report it boosts their revenue.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2697480"/>
            <a:ext cx="2670048" cy="2743200"/>
          </a:xfrm>
          <a:prstGeom prst="roundRect">
            <a:avLst>
              <a:gd name="adj" fmla="val 3425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2697480"/>
            <a:ext cx="2670048" cy="10972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82512" y="3063240"/>
            <a:ext cx="2340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382512" y="4069080"/>
            <a:ext cx="23408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apps will embed task-specific agents by end of 2026 — up from &lt;5% in 2025.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06840" y="2697480"/>
            <a:ext cx="2670048" cy="2743200"/>
          </a:xfrm>
          <a:prstGeom prst="roundRect">
            <a:avLst>
              <a:gd name="adj" fmla="val 3425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006840" y="2697480"/>
            <a:ext cx="2670048" cy="109728"/>
          </a:xfrm>
          <a:prstGeom prst="rect">
            <a:avLst/>
          </a:prstGeom>
          <a:solidFill>
            <a:srgbClr val="0F27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71432" y="3063240"/>
            <a:ext cx="23408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$9.9B → $57B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171432" y="4069080"/>
            <a:ext cx="23408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market 2026 → 2031, ~42% CAGR.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US Chamber of Commerce / Presenc AI · Salesforce Research · Gartner · Mordor Intelligence (2025–2026).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A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plant runs on static plans. Reality doesn't.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749040" cy="4023360"/>
          </a:xfrm>
          <a:prstGeom prst="roundRect">
            <a:avLst>
              <a:gd name="adj" fmla="val 2927"/>
            </a:avLst>
          </a:prstGeom>
          <a:solidFill>
            <a:srgbClr val="0F27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$50B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unplanned downtime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year, industry-wide.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48056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line at $50K/hour can bleed seven figures in days.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874520"/>
            <a:ext cx="502920" cy="502920"/>
          </a:xfrm>
          <a:prstGeom prst="ellipse">
            <a:avLst/>
          </a:prstGeom>
          <a:solidFill>
            <a:srgbClr val="1C6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40680" y="17830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Volatility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40680" y="21488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swings with markets and weather; forecasts break the moment they're published.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2898648"/>
            <a:ext cx="502920" cy="502920"/>
          </a:xfrm>
          <a:prstGeom prst="ellipse">
            <a:avLst/>
          </a:prstGeom>
          <a:solidFill>
            <a:srgbClr val="12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2898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40680" y="280720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40680" y="3172968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and processes generate torrents of data no human team can watch in real time.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3922776"/>
            <a:ext cx="502920" cy="502920"/>
          </a:xfrm>
          <a:prstGeom prst="ellipse">
            <a:avLst/>
          </a:prstGeom>
          <a:solidFill>
            <a:srgbClr val="1C6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39227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40680" y="383133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Labor scarcity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40680" y="4197096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trades are tight — tribal knowledge walks out the door and is hard to replace.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4946904"/>
            <a:ext cx="502920" cy="502920"/>
          </a:xfrm>
          <a:prstGeom prst="ellipse">
            <a:avLst/>
          </a:prstGeom>
          <a:solidFill>
            <a:srgbClr val="12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4946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485546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sprawl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5221224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stitched-together point tools and brittle RPA scripts that snap on any change.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A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SHIFT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tools that react to workers that 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monitors conditions → plans → orchestrates across your systems → executes → learns. One AI worker replaces five stitched-together point tools.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529584" cy="3383280"/>
          </a:xfrm>
          <a:prstGeom prst="roundRect">
            <a:avLst>
              <a:gd name="adj" fmla="val 2703"/>
            </a:avLst>
          </a:prstGeom>
          <a:solidFill>
            <a:srgbClr val="16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3529584" cy="566928"/>
          </a:xfrm>
          <a:prstGeom prst="rect">
            <a:avLst/>
          </a:prstGeom>
          <a:solidFill>
            <a:srgbClr val="6270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RPA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A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429000"/>
            <a:ext cx="288950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fixed scripts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05079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A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050792"/>
            <a:ext cx="288950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on any variation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67258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A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4672584"/>
            <a:ext cx="288950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hard-coded action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29437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A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5294376"/>
            <a:ext cx="288950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IT-led, months to deploy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34256" y="2606040"/>
            <a:ext cx="3529584" cy="3383280"/>
          </a:xfrm>
          <a:prstGeom prst="roundRect">
            <a:avLst>
              <a:gd name="adj" fmla="val 2703"/>
            </a:avLst>
          </a:prstGeom>
          <a:solidFill>
            <a:srgbClr val="16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34256" y="2606040"/>
            <a:ext cx="3529584" cy="566928"/>
          </a:xfrm>
          <a:prstGeom prst="rect">
            <a:avLst/>
          </a:prstGeom>
          <a:solidFill>
            <a:srgbClr val="1C6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34256" y="2606040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 (2024)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17136" y="3429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A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91456" y="3429000"/>
            <a:ext cx="288950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content, answers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17136" y="405079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A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91456" y="4050792"/>
            <a:ext cx="288950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only — no action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17136" y="467258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A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91456" y="4672584"/>
            <a:ext cx="288950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Re-prompt for every change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17136" y="529437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A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91456" y="5294376"/>
            <a:ext cx="288950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Copy-and-paste handoffs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28432" y="2606040"/>
            <a:ext cx="3529584" cy="3383280"/>
          </a:xfrm>
          <a:prstGeom prst="roundRect">
            <a:avLst>
              <a:gd name="adj" fmla="val 2703"/>
            </a:avLst>
          </a:prstGeom>
          <a:solidFill>
            <a:srgbClr val="1E4B73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028432" y="2606040"/>
            <a:ext cx="3529584" cy="56692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28432" y="2606040"/>
            <a:ext cx="3529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(2026)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11312" y="3429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85632" y="3429000"/>
            <a:ext cx="288950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full workflows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11312" y="405079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85632" y="4050792"/>
            <a:ext cx="288950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Re-plans in real time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11312" y="467258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485632" y="4672584"/>
            <a:ext cx="288950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ERP/MES/CMMS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11312" y="529437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485632" y="5294376"/>
            <a:ext cx="288950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Business-led, weeks to value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A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LANDSCAPE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 advanced use cases — across every sector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· process · hybrid — automotive, metals, food &amp; beverage, plastics, electronics, chemicals, pharma, building products, industrial equipment.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8368" y="2286000"/>
            <a:ext cx="2121408" cy="1463040"/>
          </a:xfrm>
          <a:prstGeom prst="roundRect">
            <a:avLst>
              <a:gd name="adj" fmla="val 5625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2487168"/>
            <a:ext cx="457200" cy="457200"/>
          </a:xfrm>
          <a:prstGeom prst="ellipse">
            <a:avLst/>
          </a:prstGeom>
          <a:solidFill>
            <a:srgbClr val="1C6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035808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Maintenance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44368" y="2286000"/>
            <a:ext cx="2121408" cy="1463040"/>
          </a:xfrm>
          <a:prstGeom prst="roundRect">
            <a:avLst>
              <a:gd name="adj" fmla="val 5625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27248" y="2487168"/>
            <a:ext cx="457200" cy="457200"/>
          </a:xfrm>
          <a:prstGeom prst="ellipse">
            <a:avLst/>
          </a:prstGeom>
          <a:solidFill>
            <a:srgbClr val="12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27248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08960" y="3035808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Quality Inspection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230368" y="2286000"/>
            <a:ext cx="2121408" cy="1463040"/>
          </a:xfrm>
          <a:prstGeom prst="roundRect">
            <a:avLst>
              <a:gd name="adj" fmla="val 5625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13248" y="2487168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13248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94960" y="3035808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Forecasting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16368" y="2286000"/>
            <a:ext cx="2121408" cy="1463040"/>
          </a:xfrm>
          <a:prstGeom prst="roundRect">
            <a:avLst>
              <a:gd name="adj" fmla="val 5625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99248" y="2487168"/>
            <a:ext cx="457200" cy="457200"/>
          </a:xfrm>
          <a:prstGeom prst="ellipse">
            <a:avLst/>
          </a:prstGeom>
          <a:solidFill>
            <a:srgbClr val="1C6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99248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80960" y="3035808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Scheduling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802368" y="2286000"/>
            <a:ext cx="2121408" cy="1463040"/>
          </a:xfrm>
          <a:prstGeom prst="roundRect">
            <a:avLst>
              <a:gd name="adj" fmla="val 5625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985248" y="2487168"/>
            <a:ext cx="457200" cy="457200"/>
          </a:xfrm>
          <a:prstGeom prst="ellipse">
            <a:avLst/>
          </a:prstGeom>
          <a:solidFill>
            <a:srgbClr val="12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985248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966960" y="3035808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Root-Cause / CI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" y="3950208"/>
            <a:ext cx="2121408" cy="1463040"/>
          </a:xfrm>
          <a:prstGeom prst="roundRect">
            <a:avLst>
              <a:gd name="adj" fmla="val 5625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41248" y="4151376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41248" y="4151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2960" y="470001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Supplier Risk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944368" y="3950208"/>
            <a:ext cx="2121408" cy="1463040"/>
          </a:xfrm>
          <a:prstGeom prst="roundRect">
            <a:avLst>
              <a:gd name="adj" fmla="val 5625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127248" y="4151376"/>
            <a:ext cx="457200" cy="457200"/>
          </a:xfrm>
          <a:prstGeom prst="ellipse">
            <a:avLst/>
          </a:prstGeom>
          <a:solidFill>
            <a:srgbClr val="1C6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127248" y="4151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108960" y="470001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Warehouse Optimization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230368" y="3950208"/>
            <a:ext cx="2121408" cy="1463040"/>
          </a:xfrm>
          <a:prstGeom prst="roundRect">
            <a:avLst>
              <a:gd name="adj" fmla="val 5625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13248" y="4151376"/>
            <a:ext cx="457200" cy="457200"/>
          </a:xfrm>
          <a:prstGeom prst="ellipse">
            <a:avLst/>
          </a:prstGeom>
          <a:solidFill>
            <a:srgbClr val="12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13248" y="4151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94960" y="470001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Safety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516368" y="3950208"/>
            <a:ext cx="2121408" cy="1463040"/>
          </a:xfrm>
          <a:prstGeom prst="roundRect">
            <a:avLst>
              <a:gd name="adj" fmla="val 5625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699248" y="4151376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699248" y="4151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680960" y="470001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Management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802368" y="3950208"/>
            <a:ext cx="2121408" cy="1463040"/>
          </a:xfrm>
          <a:prstGeom prst="roundRect">
            <a:avLst>
              <a:gd name="adj" fmla="val 5625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985248" y="4151376"/>
            <a:ext cx="457200" cy="457200"/>
          </a:xfrm>
          <a:prstGeom prst="ellipse">
            <a:avLst/>
          </a:prstGeom>
          <a:solidFill>
            <a:srgbClr val="1C6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985248" y="4151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966960" y="470001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Design / R&amp;D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ROI RANKING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here: the three highest-ROI wins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beats ambition. These three share existing data, a contained pilot scope, and a hard-dollar metric — prove them in one quarter, then self-fund the rest.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128016" cy="1078992"/>
          </a:xfrm>
          <a:prstGeom prst="rect">
            <a:avLst/>
          </a:prstGeom>
          <a:solidFill>
            <a:srgbClr val="1C6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2779776"/>
            <a:ext cx="548640" cy="548640"/>
          </a:xfrm>
          <a:prstGeom prst="ellipse">
            <a:avLst/>
          </a:prstGeom>
          <a:solidFill>
            <a:srgbClr val="1C6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27797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264261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Maintenance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30815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30–36% lower maintenance cost · toward 99.5% uptime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0" y="2624328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1C6F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30–50%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189720" y="2624328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unplanned downtime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721608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3721608"/>
            <a:ext cx="128016" cy="1078992"/>
          </a:xfrm>
          <a:prstGeom prst="rect">
            <a:avLst/>
          </a:prstGeom>
          <a:solidFill>
            <a:srgbClr val="12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60120" y="3986784"/>
            <a:ext cx="548640" cy="548640"/>
          </a:xfrm>
          <a:prstGeom prst="ellipse">
            <a:avLst/>
          </a:prstGeom>
          <a:solidFill>
            <a:srgbClr val="12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39867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384962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Quality Inspection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91640" y="42885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 &amp; rework down 18–30% · fewer recalls &amp; warranty claims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0" y="3831336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12A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99%+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189720" y="3831336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accuracy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928616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" y="4928616"/>
            <a:ext cx="128016" cy="107899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60120" y="5193792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120" y="5193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91640" y="50566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Forecasting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691640" y="54955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working capital straight to the balance sheet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5038344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30–35%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9189720" y="5038344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reduction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A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 OUTCOMES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value you'll see — in numbers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214884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6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6968" y="2331720"/>
            <a:ext cx="2999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15–25%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05256" y="3136392"/>
            <a:ext cx="29992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improvement from dynamic scheduling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214884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6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26280" y="2331720"/>
            <a:ext cx="2999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2A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20–30%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44568" y="3136392"/>
            <a:ext cx="29992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gain on the same assets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36992" y="214884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6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65592" y="2331720"/>
            <a:ext cx="2999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$2.4M/yr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183880" y="3136392"/>
            <a:ext cx="29992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 from a $100M inventory cut of 30%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" y="416052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6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6968" y="4343400"/>
            <a:ext cx="2999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2A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05256" y="5148072"/>
            <a:ext cx="29992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root-cause analysis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97680" y="416052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6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26280" y="4343400"/>
            <a:ext cx="2999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8–12%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544568" y="5148072"/>
            <a:ext cx="29992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/ purchasing savings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36992" y="4160520"/>
            <a:ext cx="3456432" cy="1783080"/>
          </a:xfrm>
          <a:prstGeom prst="roundRect">
            <a:avLst>
              <a:gd name="adj" fmla="val 5128"/>
            </a:avLst>
          </a:prstGeom>
          <a:solidFill>
            <a:srgbClr val="16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65592" y="4343400"/>
            <a:ext cx="2999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2A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40–60%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8183880" y="5148072"/>
            <a:ext cx="29992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safety incidents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" y="62636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benchmarks from published research &amp; in-production case studies — validated against your own baseline.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A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VALUE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ways it hits your P&amp;L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011680" cy="786384"/>
          </a:xfrm>
          <a:prstGeom prst="rect">
            <a:avLst/>
          </a:prstGeom>
          <a:solidFill>
            <a:srgbClr val="12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2011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834640" y="1965960"/>
            <a:ext cx="6035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working-capital release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869680" y="1874520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· Procurement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70632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2770632"/>
            <a:ext cx="2011680" cy="786384"/>
          </a:xfrm>
          <a:prstGeom prst="rect">
            <a:avLst/>
          </a:prstGeom>
          <a:solidFill>
            <a:srgbClr val="1C6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770632"/>
            <a:ext cx="2011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Margin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34640" y="2862072"/>
            <a:ext cx="6035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downtime, scrap, energy, maintenance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869680" y="2770632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· Quality · Energy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666744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3666744"/>
            <a:ext cx="2011680" cy="78638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666744"/>
            <a:ext cx="2011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834640" y="3758184"/>
            <a:ext cx="6035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&amp; throughput unlock saleable capacity — no capex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869680" y="3666744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562856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" y="4562856"/>
            <a:ext cx="2011680" cy="786384"/>
          </a:xfrm>
          <a:prstGeom prst="rect">
            <a:avLst/>
          </a:prstGeom>
          <a:solidFill>
            <a:srgbClr val="0F27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562856"/>
            <a:ext cx="2011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834640" y="4654296"/>
            <a:ext cx="6035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recall, supplier &amp; compliance exposure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869680" y="4562856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Quality · Supplier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458968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" y="5458968"/>
            <a:ext cx="2011680" cy="786384"/>
          </a:xfrm>
          <a:prstGeom prst="rect">
            <a:avLst/>
          </a:prstGeom>
          <a:solidFill>
            <a:srgbClr val="12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5458968"/>
            <a:ext cx="2011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Resilience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834640" y="5550408"/>
            <a:ext cx="6035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Offsets labor scarcity, compounds tribal knowledge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869680" y="5458968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/ CI · all agents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REAL RISK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AI projects stall. Ours reach production.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2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2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423160" y="25603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 proofs-of-concept never reach production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2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23160" y="35204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agentic projects forecast cancelled by 2027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2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Why?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23160" y="44805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value · runaway cost · weak governance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82880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0F27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796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ANTIDOTE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37960" y="2606040"/>
            <a:ext cx="365760" cy="365760"/>
          </a:xfrm>
          <a:prstGeom prst="ellipse">
            <a:avLst/>
          </a:prstGeom>
          <a:solidFill>
            <a:srgbClr val="12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3796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40880" y="25603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tied to a dollarized KPI on day one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37960" y="3264408"/>
            <a:ext cx="365760" cy="365760"/>
          </a:xfrm>
          <a:prstGeom prst="ellipse">
            <a:avLst/>
          </a:prstGeom>
          <a:solidFill>
            <a:srgbClr val="12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37960" y="3264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0" y="321868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Shadow-mode first — autonomy only at ≥90% precision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37960" y="3922776"/>
            <a:ext cx="365760" cy="365760"/>
          </a:xfrm>
          <a:prstGeom prst="ellipse">
            <a:avLst/>
          </a:prstGeom>
          <a:solidFill>
            <a:srgbClr val="12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39227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387705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SaaS-first economics; build only what differentiates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37960" y="4581144"/>
            <a:ext cx="365760" cy="365760"/>
          </a:xfrm>
          <a:prstGeom prst="ellipse">
            <a:avLst/>
          </a:prstGeom>
          <a:solidFill>
            <a:srgbClr val="12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37960" y="4581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40880" y="453542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built in: Entra ID, RBAC, audit, human-in-the-loop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37960" y="5239512"/>
            <a:ext cx="365760" cy="365760"/>
          </a:xfrm>
          <a:prstGeom prst="ellipse">
            <a:avLst/>
          </a:prstGeom>
          <a:solidFill>
            <a:srgbClr val="12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37960" y="5239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40880" y="519379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Land-and-expand: two wins self-fund the roadmap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A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BUILD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three-layer architecture on the Microsoft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where you can, build where you differentiate — one vendor, no integration sprawl.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280160" y="2331720"/>
            <a:ext cx="9601200" cy="1170432"/>
          </a:xfrm>
          <a:prstGeom prst="roundRect">
            <a:avLst>
              <a:gd name="adj" fmla="val 7813"/>
            </a:avLst>
          </a:prstGeom>
          <a:solidFill>
            <a:srgbClr val="0F27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00200" y="2478024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3 — Governance &amp; Action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00200" y="2898648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thresholds · Microsoft Entra ID · role-based access · audit logs · human-in-the-loop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280160" y="3657600"/>
            <a:ext cx="9601200" cy="1170432"/>
          </a:xfrm>
          <a:prstGeom prst="roundRect">
            <a:avLst>
              <a:gd name="adj" fmla="val 7813"/>
            </a:avLst>
          </a:prstGeom>
          <a:solidFill>
            <a:srgbClr val="1C6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00200" y="3803904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2 — Agent Orchestration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00200" y="4224528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(low-code) orchestrates connected agents → Azure AI Foundry (pro-code) · SaaS agents in M365 &amp; Dynamics 365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280160" y="4983480"/>
            <a:ext cx="9601200" cy="1170432"/>
          </a:xfrm>
          <a:prstGeom prst="roundRect">
            <a:avLst>
              <a:gd name="adj" fmla="val 7813"/>
            </a:avLst>
          </a:prstGeom>
          <a:solidFill>
            <a:srgbClr val="12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00200" y="5129784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1 — Data Foundation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600200" y="5550408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unifies SCADA/IIoT · MES · CMMS · WMS · ERP · Quality · CAD/PLM — via API &amp; OPC UA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01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combined: tool-use · reflection · planning · multi-agent — all under human supervision.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A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90-day path to production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670048" cy="3474720"/>
          </a:xfrm>
          <a:prstGeom prst="roundRect">
            <a:avLst>
              <a:gd name="adj" fmla="val 3425"/>
            </a:avLst>
          </a:prstGeom>
          <a:solidFill>
            <a:srgbClr val="16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670048" cy="640080"/>
          </a:xfrm>
          <a:prstGeom prst="rect">
            <a:avLst/>
          </a:prstGeom>
          <a:solidFill>
            <a:srgbClr val="12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670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Weeks 1–2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55064" y="3154680"/>
            <a:ext cx="640080" cy="640080"/>
          </a:xfrm>
          <a:prstGeom prst="ellipse">
            <a:avLst/>
          </a:prstGeom>
          <a:solidFill>
            <a:srgbClr val="12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55064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" y="3931920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 &amp; Anchor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23042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downtime, defect &amp; cash drivers. Pick two quick-win lines. Validate data access.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9000" y="2286000"/>
            <a:ext cx="2670048" cy="3474720"/>
          </a:xfrm>
          <a:prstGeom prst="roundRect">
            <a:avLst>
              <a:gd name="adj" fmla="val 3425"/>
            </a:avLst>
          </a:prstGeom>
          <a:solidFill>
            <a:srgbClr val="16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29000" y="2286000"/>
            <a:ext cx="2670048" cy="640080"/>
          </a:xfrm>
          <a:prstGeom prst="rect">
            <a:avLst/>
          </a:prstGeom>
          <a:solidFill>
            <a:srgbClr val="1C6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9000" y="2286000"/>
            <a:ext cx="2670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Weeks 3–6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43984" y="3154680"/>
            <a:ext cx="640080" cy="640080"/>
          </a:xfrm>
          <a:prstGeom prst="ellipse">
            <a:avLst/>
          </a:prstGeom>
          <a:solidFill>
            <a:srgbClr val="1C6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43984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93592" y="3931920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Shadow-Mode Pilots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11880" y="4617720"/>
            <a:ext cx="23042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predictive maintenance &amp; vision QC in shadow mode. Stand up forecasting. Set governance.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2286000"/>
            <a:ext cx="2670048" cy="3474720"/>
          </a:xfrm>
          <a:prstGeom prst="roundRect">
            <a:avLst>
              <a:gd name="adj" fmla="val 3425"/>
            </a:avLst>
          </a:prstGeom>
          <a:solidFill>
            <a:srgbClr val="16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2286000"/>
            <a:ext cx="2670048" cy="6400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0" y="2286000"/>
            <a:ext cx="2670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45–75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32904" y="315468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32904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82512" y="3931920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 On Autonomy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00800" y="4617720"/>
            <a:ext cx="23042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Auto-actions where precision ≥90%. Launch scheduling &amp; root-cause agents.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006840" y="2286000"/>
            <a:ext cx="2670048" cy="3474720"/>
          </a:xfrm>
          <a:prstGeom prst="roundRect">
            <a:avLst>
              <a:gd name="adj" fmla="val 3425"/>
            </a:avLst>
          </a:prstGeom>
          <a:solidFill>
            <a:srgbClr val="163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006840" y="2286000"/>
            <a:ext cx="2670048" cy="640080"/>
          </a:xfrm>
          <a:prstGeom prst="rect">
            <a:avLst/>
          </a:prstGeom>
          <a:solidFill>
            <a:srgbClr val="12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006840" y="2286000"/>
            <a:ext cx="2670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75–90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021824" y="3154680"/>
            <a:ext cx="640080" cy="640080"/>
          </a:xfrm>
          <a:prstGeom prst="ellipse">
            <a:avLst/>
          </a:prstGeom>
          <a:solidFill>
            <a:srgbClr val="12A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021824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71432" y="3931920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 &amp; Scorecard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189720" y="4617720"/>
            <a:ext cx="23042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supplier risk &amp; energy. Publish a board-ready scorecard tied to cash, margin, OTIF.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6035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plants see material KPI movement within 30–60 days on the first lines.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61120" y="3931920"/>
            <a:ext cx="4937760" cy="4937760"/>
          </a:xfrm>
          <a:prstGeom prst="ellipse">
            <a:avLst/>
          </a:prstGeom>
          <a:ln w="19050">
            <a:solidFill>
              <a:srgbClr val="1638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0" y="5029200"/>
            <a:ext cx="2743200" cy="2743200"/>
          </a:xfrm>
          <a:prstGeom prst="ellipse">
            <a:avLst/>
          </a:prstGeom>
          <a:ln w="1905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2A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PARTNER WITH US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13258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 on two lines in one quarter.</a:t>
            </a:r>
            <a:endParaRPr lang="en-US" sz="3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Then scaled on a standardized playbook.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3063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Full-stack, one vendor — data to agents to governance, no integration sprawl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1520" y="3767328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767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◆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372160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SaaS-first economics — most use cases ship on Copilot Studio, often in your existing licensing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31520" y="4425696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4256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379976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+ pro-code together — business teams move fast, engineers build the differentiator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31520" y="5084064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5084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5038344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trust at SMB scale — the governance that separates the ~23% who scale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31520" y="5897880"/>
            <a:ext cx="6766560" cy="640080"/>
          </a:xfrm>
          <a:prstGeom prst="roundRect">
            <a:avLst>
              <a:gd name="adj" fmla="val 17143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58978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7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step: a 2-use-case pilot scoped to your highest-dollar pain.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1146</Words>
  <Application>Microsoft Office PowerPoint</Application>
  <PresentationFormat>Custom</PresentationFormat>
  <Paragraphs>222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Balamurugan Balakreshnan</cp:lastModifiedBy>
  <cp:revision>2</cp:revision>
  <dcterms:created xsi:type="dcterms:W3CDTF">2026-06-25T13:08:33Z</dcterms:created>
  <dcterms:modified xsi:type="dcterms:W3CDTF">2026-06-25T13:22:18Z</dcterms:modified>
</cp:coreProperties>
</file>