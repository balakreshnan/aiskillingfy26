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21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ln w="101600">
            <a:solidFill>
              <a:srgbClr val="2C3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49840" y="-365760"/>
            <a:ext cx="2560320" cy="2560320"/>
          </a:xfrm>
          <a:prstGeom prst="ellipse">
            <a:avLst/>
          </a:prstGeom>
          <a:ln w="25400">
            <a:solidFill>
              <a:srgbClr val="2A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881360" y="365760"/>
            <a:ext cx="1097280" cy="109728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MANUFACTURING  ·  VENDOR-NEUTRAL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8778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Wisconsin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Manufacturers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&amp; execution playbook for small and mid-size manufacturers — tool-agnostic by design.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023360" cy="0"/>
          </a:xfrm>
          <a:prstGeom prst="line">
            <a:avLst/>
          </a:prstGeom>
          <a:noFill/>
          <a:ln w="19050">
            <a:solidFill>
              <a:srgbClr val="2C3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business problem — not the technology.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Balamurugan Balakreshnan  ·  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is Wisconsin's backbone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70048" cy="109728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057400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$71.6B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04672" y="2852928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manufacturing's contribution to Wisconsin GDP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70048" cy="10972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93592" y="2057400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593592" y="2852928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state workforce — 570,000+ workers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2670048" cy="109728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057400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82512" y="2852928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— among the most mfg-intensive U.S. states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1783080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06840" y="1783080"/>
            <a:ext cx="2670048" cy="109728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71432" y="2057400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9th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171432" y="2852928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manufacturing workforce in the nation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broad, diversified base — by share of manufacturing jobs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44368" y="448056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44368" y="4617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035808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248656" y="448056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48656" y="4617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340096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metals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52944" y="448056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3E96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52944" y="4617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644384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Plastics &amp; rubber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857232" y="448056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57232" y="4617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948672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U.S. BEA via WMEP (2026) · MNI / IndustrySelect (2025).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pressures — and one question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2025 Wisconsin Manufacturing Report (400+ executive interviews).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9584" cy="228600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9584" cy="91440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10896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Skilled-labor shortage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611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challenge — and demographically permanent. Tribal knowledge retires with the workforce.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529584" cy="228600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34256" y="2148840"/>
            <a:ext cx="3529584" cy="91440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08576" y="24688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79976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0288" y="310896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Tariff cost &amp; uncertainty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3611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input costs and planning whiplash make commitments and sourcing harder.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28432" y="2148840"/>
            <a:ext cx="3529584" cy="2286000"/>
          </a:xfrm>
          <a:prstGeom prst="roundRect">
            <a:avLst>
              <a:gd name="adj" fmla="val 40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28432" y="2148840"/>
            <a:ext cx="3529584" cy="91440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02752" y="2468880"/>
            <a:ext cx="548640" cy="548640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74152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84464" y="310896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 capacity, softer market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84464" y="3611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capacity to fill — winning now means quoting faster and delivering more reliably.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4983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WI manufacturers now see AI as important —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" y="5394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struggle with “where do we start?” and whether the ROI is real. For smaller firms, financing and technical expertise are the binding constraints.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act. They don't just advise.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reason → plan → act across your systems → learn. Capability is independent of any one vendor.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9584" cy="548640"/>
          </a:xfrm>
          <a:prstGeom prst="rect">
            <a:avLst/>
          </a:prstGeom>
          <a:solidFill>
            <a:srgbClr val="6372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automation / RPA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15468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Pre-coded single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79476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variation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443484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brittle scripts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34256" y="233172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34256" y="2331720"/>
            <a:ext cx="3529584" cy="548640"/>
          </a:xfrm>
          <a:prstGeom prst="rect">
            <a:avLst/>
          </a:prstGeom>
          <a:solidFill>
            <a:srgbClr val="3E96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34256" y="233172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&amp; analytics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62856" y="3154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37176" y="315468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2856" y="3794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37176" y="379476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must 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2856" y="4434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37176" y="443484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loop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28432" y="233172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1E4A5E"/>
          </a:solidFill>
          <a:ln w="254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28432" y="2331720"/>
            <a:ext cx="3529584" cy="548640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28432" y="233172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57032" y="3154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31352" y="315468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outcome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57032" y="3794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31352" y="379476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in real time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57032" y="4434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31352" y="443484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writes, multi-system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(OPC UA, MQTT, MCP, A2A) let you mix platforms without lock-in.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use-case portfolio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discrete, process &amp; hybrid plants. Figures are industry benchmarks — validate against your baseline.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212848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91440" cy="1481328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3591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" y="3054096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less downtime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44368" y="2212848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44368" y="2212848"/>
            <a:ext cx="91440" cy="148132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45536" y="23591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quality inspection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45536" y="3054096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accuracy, scrap −18–30%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30368" y="2212848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30368" y="2212848"/>
            <a:ext cx="91440" cy="1481328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31536" y="23591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31536" y="3054096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−30–35%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16368" y="2212848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16368" y="2212848"/>
            <a:ext cx="91440" cy="1481328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17536" y="23591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risk &amp; procurement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17536" y="3054096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purchasing savings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02368" y="2212848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02368" y="2212848"/>
            <a:ext cx="91440" cy="1481328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03536" y="2359152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scheduling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003536" y="3054096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+15–25%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3895344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8368" y="3895344"/>
            <a:ext cx="91440" cy="148132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9536" y="4041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Root-cause / CI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9536" y="47365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faster RCA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44368" y="3895344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44368" y="3895344"/>
            <a:ext cx="91440" cy="1481328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45536" y="4041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/ RFQ copilots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145536" y="47365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freed capacity faster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30368" y="3895344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30368" y="3895344"/>
            <a:ext cx="91440" cy="1481328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31536" y="4041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safety (vision)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31536" y="47365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fewer incidents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16368" y="3895344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16368" y="3895344"/>
            <a:ext cx="91440" cy="1481328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17536" y="4041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management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717536" y="47365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 −15–25%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802368" y="3895344"/>
            <a:ext cx="2121408" cy="1481328"/>
          </a:xfrm>
          <a:prstGeom prst="roundRect">
            <a:avLst>
              <a:gd name="adj" fmla="val 555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802368" y="3895344"/>
            <a:ext cx="91440" cy="148132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003536" y="4041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capture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003536" y="47365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the labor shortage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SEQUENCING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beats ambition: pick two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dollarized wins with existing data and contained scope — prove them in a quarter, then self-fund the rest.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28016" cy="1024128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724912"/>
            <a:ext cx="530352" cy="530352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72491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743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040880" y="256032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89720" y="256032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unplanned downtime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128016" cy="102412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120" y="3877056"/>
            <a:ext cx="530352" cy="53035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87705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8953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quality inspection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040880" y="371246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189720" y="3712464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accuracy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73168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773168"/>
            <a:ext cx="128016" cy="1024128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0120" y="5029200"/>
            <a:ext cx="530352" cy="530352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029200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0474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/ quote automation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040880" y="486460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30–35%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189720" y="4864608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reduction (or faster quotes)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the pair that hits your binding pain — cash, capacity, or the floor.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SECTOR LENS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WI sector wins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017520" cy="804672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machinery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840480" y="182880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dynamic scheduling · quote &amp; field-service copilots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017520" cy="804672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beverage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QC &amp; HACCP traceability · yield/giveaway control · demand forecasting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017520" cy="804672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Fabricated metals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40480" y="365760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weld/finish inspection · nesting &amp; scheduling · RFQ automation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3017520" cy="804672"/>
          </a:xfrm>
          <a:prstGeom prst="rect">
            <a:avLst/>
          </a:prstGeom>
          <a:solidFill>
            <a:srgbClr val="3E96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572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Plastics &amp; rubber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840480" y="457200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Process-parameter optimization · scrap/defect vision · energy management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3017520" cy="804672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4864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840480" y="548640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AOI-augmented defect detection · SKU forecasting · supplier risk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SELECTION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problems — then commit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“we should use AI.” Start from a ranked list of dollarized pains, then test which are agent-shaped.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228600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Hard-dollar impact per year if solved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92640" y="2286000"/>
            <a:ext cx="1645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054096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readiness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054096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signal already exist?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92640" y="3054096"/>
            <a:ext cx="1645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822192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822192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822192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≤90 days on one line?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92640" y="3822192"/>
            <a:ext cx="1645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590288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59028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4590288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/ regulatory / change-heavy?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92640" y="4590288"/>
            <a:ext cx="1645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 inverse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5358384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358384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fit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5358384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labor, capacity, or tariff resilience?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92640" y="5358384"/>
            <a:ext cx="1645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TOOLING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vs. buy — decide per use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where it's a commodity. Build only your differentiator. Prefer open standards and export rights to avoid lock-in.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28016" cy="1051560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packaged/SaaS agent exists for the exact job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0" y="32644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7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47288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3447288"/>
            <a:ext cx="128016" cy="1051560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55701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9502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from your data + tools on a low-code platform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44714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7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54296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128016" cy="1051560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76402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51572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unique IP / process — use an agent framework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2240280"/>
            <a:ext cx="5577840" cy="3611880"/>
          </a:xfrm>
          <a:prstGeom prst="roundRect">
            <a:avLst>
              <a:gd name="adj" fmla="val 2532"/>
            </a:avLst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2377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— open-source  |  commercial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72200" y="27889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7889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models: Llama/Mistral | OpenAI/Claude/Gemini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16382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163824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frameworks: LangGraph/CrewAI/AutoGen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53872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5387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builders: n8n | Copilot Studio/Agentforce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91363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913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QC: OpenCV/YOLO | Cognex/Landing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28853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28853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maint.: scikit-learn | Augury/Senseye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46634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connectivity: OPC UA/MQTT | Ignition/HighByte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503834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038344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Postgres/Timescale | Databricks/Snowflake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4132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Langfuse | LangSmith/Arize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illustrate the landscape — not endorsements. Score each on fit, integration, lock-in, security, TCO, and time-to-value.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vendor-neutral three-layer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1965960"/>
            <a:ext cx="9784080" cy="1097280"/>
          </a:xfrm>
          <a:prstGeom prst="roundRect">
            <a:avLst>
              <a:gd name="adj" fmla="val 8333"/>
            </a:avLst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Orchestration, Governance &amp; 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5146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· autonomy thresholds · human-in-the-loop · identity/RBAC · audit log · observability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209544"/>
            <a:ext cx="9784080" cy="1097280"/>
          </a:xfrm>
          <a:prstGeom prst="roundRect">
            <a:avLst>
              <a:gd name="adj" fmla="val 8333"/>
            </a:avLst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3346704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Intelligence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37581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model(s) · retrieval over plant knowledge (RAG) · task models: vision, anomaly detection, forecasting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4453128"/>
            <a:ext cx="9784080" cy="1097280"/>
          </a:xfrm>
          <a:prstGeom prst="roundRect">
            <a:avLst>
              <a:gd name="adj" fmla="val 8333"/>
            </a:avLst>
          </a:prstGeom>
          <a:solidFill>
            <a:srgbClr val="3E96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4590288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Data &amp; Connectivity Foundation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0017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namespace (OPC UA / MQTT-Sparkplug) → historian/lakehouse. Sources: SCADA/PLC, MES, CMMS, WMS, ERP, QMS, CAD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5715000"/>
            <a:ext cx="9784080" cy="548640"/>
          </a:xfrm>
          <a:prstGeom prst="roundRect">
            <a:avLst>
              <a:gd name="adj" fmla="val 13333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57150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gateway on/near the line — low-latency, offline-safe inference.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TRUST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the floor — safely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rising on every WI manufacturer's agenda. Design for it from day 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377440"/>
            <a:ext cx="384048" cy="384048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237744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951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IT/OT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ISA-95 / Purdue zones; agents reach OT through a controlled broker — never straight into PLCs.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73368" y="2377440"/>
            <a:ext cx="384048" cy="384048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44768" y="237744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2951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before write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03720" y="265176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starts read-only; actuation only after accuracy is proven, behind interlocks.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3703320"/>
            <a:ext cx="384048" cy="384048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" y="370332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210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identity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its own scoped credential and rotated secrets.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47472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73368" y="3703320"/>
            <a:ext cx="384048" cy="384048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44768" y="370332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6210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39776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any safety- or product-affecting action.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1248" y="5029200"/>
            <a:ext cx="384048" cy="384048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" y="50292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9469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log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530352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what / when / why — for traceability and HACCP / ISO / QMS audits.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72200" y="48006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73368" y="5029200"/>
            <a:ext cx="384048" cy="384048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44768" y="50292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49469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IP on-site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03720" y="530352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edge/on-prem inference for sensitive process data; encrypt everywhere.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DELIVERY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90-day path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70048" cy="621792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0–2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3035808"/>
            <a:ext cx="603504" cy="603504"/>
          </a:xfrm>
          <a:prstGeom prst="ellipse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44752" y="3035808"/>
            <a:ext cx="10607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Mobilize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3042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+ small pod. Dollarize top 5 pains, score, pick two. Confirm data access. Set KPI, baseline &amp; autonomy gate.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2194560"/>
            <a:ext cx="2670048" cy="621792"/>
          </a:xfrm>
          <a:prstGeom prst="rect">
            <a:avLst/>
          </a:prstGeom>
          <a:solidFill>
            <a:srgbClr val="3E96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3–6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62272" y="3035808"/>
            <a:ext cx="603504" cy="603504"/>
          </a:xfrm>
          <a:prstGeom prst="ellipse">
            <a:avLst/>
          </a:prstGeom>
          <a:solidFill>
            <a:srgbClr val="3E96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33672" y="3035808"/>
            <a:ext cx="10607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76732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+ Shadow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11880" y="4297680"/>
            <a:ext cx="23042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Layer-1 connectivity. Run agents in shadow mode (score, no action). Stand up governance.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194560"/>
            <a:ext cx="2670048" cy="621792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45–75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51192" y="3035808"/>
            <a:ext cx="603504" cy="6035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22592" y="3035808"/>
            <a:ext cx="10607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376732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23042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autonomy where precision ≥90%. Launch the second pair (scheduling, RCA).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06840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2C3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06840" y="2194560"/>
            <a:ext cx="2670048" cy="621792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06840" y="2194560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75–90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040112" y="3035808"/>
            <a:ext cx="603504" cy="603504"/>
          </a:xfrm>
          <a:prstGeom prst="ellipse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11512" y="3035808"/>
            <a:ext cx="10607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0" y="376732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&amp; Scale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89720" y="4297680"/>
            <a:ext cx="23042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scorecard tied to cash, margin, capacity. Go/no-go, then templated roll-out.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plants see material KPI movement within 30–60 days on the first lines.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every agent to a dollar KPI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91440" cy="1143000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751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MTBF/MTTR · downtime hrs · % autonomous work orders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91440" cy="1143000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9751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23591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yield · PPM defects · scrap/rework $ · FP/FN rates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91440" cy="1143000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300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36850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 % · inventory turns · OTIF · purchasing savings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3154680"/>
            <a:ext cx="91440" cy="1143000"/>
          </a:xfrm>
          <a:prstGeom prst="rect">
            <a:avLst/>
          </a:prstGeom>
          <a:solidFill>
            <a:srgbClr val="3E96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300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E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0" y="36850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· throughput/shift · schedule adherence · quote lead-time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91440" cy="1143000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6268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/ Safety / Energy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8680" y="50109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rate · PPE compliance · kWh/unit · knowledge captured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4805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4480560"/>
            <a:ext cx="91440" cy="1143000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6268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health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0" y="50109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precision vs. gate · % auto vs. human · $ realized vs. projected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weekly during pilots, monthly at scale.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5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WISCONSIN ADVANTAGE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have to fund this alone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state's manufacturing-extension ecosystem exists to lower the cost and skill barrier for SMBs.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49240" cy="91440"/>
          </a:xfrm>
          <a:prstGeom prst="rect">
            <a:avLst/>
          </a:prstGeom>
          <a:solidFill>
            <a:srgbClr val="2A7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7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WMEP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907792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advisors across Growth, Operations &amp; People — reporting ~20:1 ROI. Runs problem-first “AI Navigator” workshops statewide.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349240" cy="91440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UW-Stout MOC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907792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entity for WI's federal MEP program; home to a Center for Advanced Manufacturing &amp; AI.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349240" cy="91440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361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MEP + WEDC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$19M federal award ($3.8M/yr, 5 yrs) plus continuing state funding sustains manufacturer support.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1605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1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4160520"/>
            <a:ext cx="5349240" cy="91440"/>
          </a:xfrm>
          <a:prstGeom prst="rect">
            <a:avLst/>
          </a:prstGeom>
          <a:solidFill>
            <a:srgbClr val="B5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4361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5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MKE Tech Hub · UWM CSI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0" y="4873752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“Put AI to Work” partnership and a hands-on Connected Systems Institute for piloting.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7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4206240"/>
            <a:ext cx="4389120" cy="4389120"/>
          </a:xfrm>
          <a:prstGeom prst="ellipse">
            <a:avLst/>
          </a:prstGeom>
          <a:ln w="101600">
            <a:solidFill>
              <a:srgbClr val="2C3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332720" y="5212080"/>
            <a:ext cx="2377440" cy="2377440"/>
          </a:xfrm>
          <a:prstGeom prst="ellipse">
            <a:avLst/>
          </a:prstGeom>
          <a:ln w="25400">
            <a:solidFill>
              <a:srgbClr val="2A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dollarized wins. One quarter.</a:t>
            </a:r>
            <a:endParaRPr lang="en-US" sz="3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 repeatable playbook.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3108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business problem — score it, dollarize it, pick two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813048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8130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76732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tool-agnostic — buy the commodity, build the differentiator, avoid lock-in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4471416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47141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42569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autonomy on proven accuracy; keep the floor secure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1520" y="5129784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5129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08406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WMEP / UW-Stout to de-risk the cost and the skills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1520" y="5897880"/>
            <a:ext cx="7498080" cy="640080"/>
          </a:xfrm>
          <a:prstGeom prst="roundRect">
            <a:avLst>
              <a:gd name="adj" fmla="val 17143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8978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an advisor-led opportunity assessment + a two-use-case pilot.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Microsoft Office PowerPoint</Application>
  <PresentationFormat>Custom</PresentationFormat>
  <Paragraphs>280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Balamurugan Balakreshnan</cp:lastModifiedBy>
  <cp:revision>2</cp:revision>
  <dcterms:created xsi:type="dcterms:W3CDTF">2026-06-25T13:34:09Z</dcterms:created>
  <dcterms:modified xsi:type="dcterms:W3CDTF">2026-06-25T13:36:56Z</dcterms:modified>
</cp:coreProperties>
</file>